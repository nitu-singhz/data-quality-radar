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1"/>
  </p:notes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Arimo" charset="1" panose="020B0604020202020204"/>
      <p:regular r:id="rId14"/>
    </p:embeddedFont>
    <p:embeddedFont>
      <p:font typeface="Arimo Italics" charset="1" panose="020B0604020202090204"/>
      <p:regular r:id="rId15"/>
    </p:embeddedFont>
    <p:embeddedFont>
      <p:font typeface="Syne Bold" charset="1" panose="00000000000000000000"/>
      <p:regular r:id="rId16"/>
    </p:embeddedFont>
    <p:embeddedFont>
      <p:font typeface="Arimo Bold" charset="1" panose="020B07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notesMasters/notesMaster1.xml" Type="http://schemas.openxmlformats.org/officeDocument/2006/relationships/notesMaster"/><Relationship Id="rId12" Target="theme/theme2.xml" Type="http://schemas.openxmlformats.org/officeDocument/2006/relationships/theme"/><Relationship Id="rId13" Target="notesSlides/notesSlide1.xml" Type="http://schemas.openxmlformats.org/officeDocument/2006/relationships/notes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Slides/notesSlide2.xml" Type="http://schemas.openxmlformats.org/officeDocument/2006/relationships/notesSlide"/><Relationship Id="rId18" Target="notesSlides/notesSlide3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4.xml" Type="http://schemas.openxmlformats.org/officeDocument/2006/relationships/notesSlide"/><Relationship Id="rId21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13.png" Type="http://schemas.openxmlformats.org/officeDocument/2006/relationships/image"/><Relationship Id="rId14" Target="../media/image14.svg" Type="http://schemas.openxmlformats.org/officeDocument/2006/relationships/image"/><Relationship Id="rId15" Target="../media/image15.png" Type="http://schemas.openxmlformats.org/officeDocument/2006/relationships/image"/><Relationship Id="rId16" Target="../media/image16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0D4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323775" y="960397"/>
            <a:ext cx="1109052" cy="952747"/>
            <a:chOff x="0" y="0"/>
            <a:chExt cx="24383390" cy="209469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20946907"/>
            </a:xfrm>
            <a:custGeom>
              <a:avLst/>
              <a:gdLst/>
              <a:ahLst/>
              <a:cxnLst/>
              <a:rect r="r" b="b" t="t" l="l"/>
              <a:pathLst>
                <a:path h="20946907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20946907"/>
                  </a:lnTo>
                  <a:lnTo>
                    <a:pt x="0" y="20946907"/>
                  </a:lnTo>
                  <a:close/>
                </a:path>
              </a:pathLst>
            </a:custGeom>
            <a:blipFill>
              <a:blip r:embed="rId3"/>
              <a:stretch>
                <a:fillRect l="0" t="-8202" r="0" b="-820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47131" y="822874"/>
            <a:ext cx="3201067" cy="227114"/>
            <a:chOff x="0" y="0"/>
            <a:chExt cx="4268089" cy="3028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67962" cy="302768"/>
            </a:xfrm>
            <a:custGeom>
              <a:avLst/>
              <a:gdLst/>
              <a:ahLst/>
              <a:cxnLst/>
              <a:rect r="r" b="b" t="t" l="l"/>
              <a:pathLst>
                <a:path h="302768" w="4267962">
                  <a:moveTo>
                    <a:pt x="0" y="23876"/>
                  </a:moveTo>
                  <a:cubicBezTo>
                    <a:pt x="0" y="10668"/>
                    <a:pt x="10668" y="0"/>
                    <a:pt x="23876" y="0"/>
                  </a:cubicBezTo>
                  <a:lnTo>
                    <a:pt x="4244086" y="0"/>
                  </a:lnTo>
                  <a:cubicBezTo>
                    <a:pt x="4257294" y="0"/>
                    <a:pt x="4267962" y="10668"/>
                    <a:pt x="4267962" y="23876"/>
                  </a:cubicBezTo>
                  <a:lnTo>
                    <a:pt x="4267962" y="278892"/>
                  </a:lnTo>
                  <a:cubicBezTo>
                    <a:pt x="4267962" y="292100"/>
                    <a:pt x="4257294" y="302768"/>
                    <a:pt x="4244086" y="302768"/>
                  </a:cubicBezTo>
                  <a:lnTo>
                    <a:pt x="23876" y="302768"/>
                  </a:lnTo>
                  <a:cubicBezTo>
                    <a:pt x="10668" y="302768"/>
                    <a:pt x="0" y="292100"/>
                    <a:pt x="0" y="278892"/>
                  </a:cubicBezTo>
                  <a:close/>
                </a:path>
              </a:pathLst>
            </a:custGeom>
            <a:solidFill>
              <a:srgbClr val="0F004D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47131" y="2480243"/>
            <a:ext cx="10619121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9"/>
              </a:lnSpc>
            </a:pPr>
            <a:r>
              <a:rPr lang="en-US" sz="202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From learning Claude's capabilities to building a practical, reusable workflow.</a:t>
            </a:r>
          </a:p>
          <a:p>
            <a:pPr algn="l">
              <a:lnSpc>
                <a:spcPts val="2429"/>
              </a:lnSpc>
            </a:pPr>
            <a:r>
              <a:rPr lang="en-US" sz="2024" i="true">
                <a:solidFill>
                  <a:srgbClr val="D9E1FF"/>
                </a:solidFill>
                <a:latin typeface="Arimo Italics"/>
                <a:ea typeface="Arimo Italics"/>
                <a:cs typeface="Arimo Italics"/>
                <a:sym typeface="Arimo Italics"/>
              </a:rPr>
              <a:t>August 31, 2026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501475" y="3099368"/>
            <a:ext cx="13285051" cy="5584768"/>
            <a:chOff x="0" y="0"/>
            <a:chExt cx="17713401" cy="7446358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7713452" cy="7446396"/>
            </a:xfrm>
            <a:custGeom>
              <a:avLst/>
              <a:gdLst/>
              <a:ahLst/>
              <a:cxnLst/>
              <a:rect r="r" b="b" t="t" l="l"/>
              <a:pathLst>
                <a:path h="7446396" w="17713452">
                  <a:moveTo>
                    <a:pt x="0" y="0"/>
                  </a:moveTo>
                  <a:lnTo>
                    <a:pt x="17713452" y="0"/>
                  </a:lnTo>
                  <a:lnTo>
                    <a:pt x="17713452" y="7446396"/>
                  </a:lnTo>
                  <a:lnTo>
                    <a:pt x="0" y="7446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233" r="0" b="-2232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54988" y="713585"/>
            <a:ext cx="15777566" cy="436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5"/>
              </a:lnSpc>
            </a:pPr>
            <a:r>
              <a:rPr lang="en-US" sz="2799">
                <a:solidFill>
                  <a:srgbClr val="FF7A00"/>
                </a:solidFill>
                <a:latin typeface="Arimo"/>
                <a:ea typeface="Arimo"/>
                <a:cs typeface="Arimo"/>
                <a:sym typeface="Arimo"/>
              </a:rPr>
              <a:t>CODEBASICS · CLAUDE IN 60 MINUTES CHALLENGE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131" y="1051322"/>
            <a:ext cx="9515913" cy="861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 b="tru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Syne Bold"/>
              </a:rPr>
              <a:t>Data Quality Radar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5546" y="1922669"/>
            <a:ext cx="8107680" cy="421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b="true" sz="2649">
                <a:solidFill>
                  <a:srgbClr val="D97F5E"/>
                </a:solidFill>
                <a:latin typeface="Syne Bold"/>
                <a:ea typeface="Syne Bold"/>
                <a:cs typeface="Syne Bold"/>
                <a:sym typeface="Syne Bold"/>
              </a:rPr>
              <a:t>Building a Claude Skill to handle messy 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081184" y="7345318"/>
            <a:ext cx="2838545" cy="42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2"/>
              </a:lnSpc>
            </a:pPr>
            <a:r>
              <a:rPr lang="en-US" sz="2550" b="tru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Syne Bold"/>
              </a:rPr>
              <a:t>Claude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48198" y="7790393"/>
            <a:ext cx="2838545" cy="4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5"/>
              </a:lnSpc>
            </a:pPr>
            <a:r>
              <a:rPr lang="en-US" sz="2175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Understand capabilities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232918" y="7345318"/>
            <a:ext cx="2838545" cy="42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2"/>
              </a:lnSpc>
            </a:pPr>
            <a:r>
              <a:rPr lang="en-US" sz="2550" b="tru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Syne Bold"/>
              </a:rPr>
              <a:t>Solution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32918" y="7921990"/>
            <a:ext cx="2838545" cy="225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5"/>
              </a:lnSpc>
            </a:pPr>
            <a:r>
              <a:rPr lang="en-US" sz="2175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Build reusable Skill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724727" y="3833346"/>
            <a:ext cx="2838545" cy="42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2"/>
              </a:lnSpc>
            </a:pPr>
            <a:r>
              <a:rPr lang="en-US" sz="2550" b="tru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Syne Bold"/>
              </a:rPr>
              <a:t>Data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24499" y="4293556"/>
            <a:ext cx="2838545" cy="4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5"/>
              </a:lnSpc>
            </a:pPr>
            <a:r>
              <a:rPr lang="en-US" sz="2175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Identify quality problems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191498" y="8665087"/>
            <a:ext cx="1943457" cy="430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749" b="true">
                <a:solidFill>
                  <a:srgbClr val="D97F5E"/>
                </a:solidFill>
                <a:latin typeface="Syne Bold"/>
                <a:ea typeface="Syne Bold"/>
                <a:cs typeface="Syne Bold"/>
                <a:sym typeface="Syne Bold"/>
              </a:rPr>
              <a:t>Nitu Singh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0D4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A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131" y="856059"/>
            <a:ext cx="16193291" cy="716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5"/>
              </a:lnSpc>
            </a:pPr>
            <a:r>
              <a:rPr lang="en-US" b="true" sz="4275">
                <a:solidFill>
                  <a:srgbClr val="FF7A00"/>
                </a:solidFill>
                <a:latin typeface="Syne Bold"/>
                <a:ea typeface="Syne Bold"/>
                <a:cs typeface="Syne Bold"/>
                <a:sym typeface="Syne Bold"/>
              </a:rPr>
              <a:t>From Learning Claude to Identifying a Problem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131" y="2009623"/>
            <a:ext cx="7811491" cy="36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Syne Bold"/>
              </a:rPr>
              <a:t>What the session covered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47131" y="2577856"/>
            <a:ext cx="3814372" cy="1695002"/>
            <a:chOff x="0" y="0"/>
            <a:chExt cx="5085829" cy="22600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85842" cy="2259965"/>
            </a:xfrm>
            <a:custGeom>
              <a:avLst/>
              <a:gdLst/>
              <a:ahLst/>
              <a:cxnLst/>
              <a:rect r="r" b="b" t="t" l="l"/>
              <a:pathLst>
                <a:path h="2259965" w="5085842">
                  <a:moveTo>
                    <a:pt x="0" y="46736"/>
                  </a:moveTo>
                  <a:cubicBezTo>
                    <a:pt x="0" y="20955"/>
                    <a:pt x="20955" y="0"/>
                    <a:pt x="46736" y="0"/>
                  </a:cubicBezTo>
                  <a:lnTo>
                    <a:pt x="5039106" y="0"/>
                  </a:lnTo>
                  <a:cubicBezTo>
                    <a:pt x="5064887" y="0"/>
                    <a:pt x="5085842" y="20955"/>
                    <a:pt x="5085842" y="46736"/>
                  </a:cubicBezTo>
                  <a:lnTo>
                    <a:pt x="5085842" y="2213229"/>
                  </a:lnTo>
                  <a:cubicBezTo>
                    <a:pt x="5085842" y="2239010"/>
                    <a:pt x="5064887" y="2259965"/>
                    <a:pt x="5039106" y="2259965"/>
                  </a:cubicBezTo>
                  <a:lnTo>
                    <a:pt x="46736" y="2259965"/>
                  </a:lnTo>
                  <a:cubicBezTo>
                    <a:pt x="20955" y="2259965"/>
                    <a:pt x="0" y="2239010"/>
                    <a:pt x="0" y="2213229"/>
                  </a:cubicBezTo>
                  <a:close/>
                </a:path>
              </a:pathLst>
            </a:custGeom>
            <a:solidFill>
              <a:srgbClr val="2B295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80779" y="2811513"/>
            <a:ext cx="701259" cy="701278"/>
            <a:chOff x="0" y="0"/>
            <a:chExt cx="935012" cy="9350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4974" cy="935101"/>
            </a:xfrm>
            <a:custGeom>
              <a:avLst/>
              <a:gdLst/>
              <a:ahLst/>
              <a:cxnLst/>
              <a:rect r="r" b="b" t="t" l="l"/>
              <a:pathLst>
                <a:path h="935101" w="934974">
                  <a:moveTo>
                    <a:pt x="0" y="467487"/>
                  </a:moveTo>
                  <a:cubicBezTo>
                    <a:pt x="0" y="209296"/>
                    <a:pt x="209296" y="0"/>
                    <a:pt x="467487" y="0"/>
                  </a:cubicBezTo>
                  <a:cubicBezTo>
                    <a:pt x="725678" y="0"/>
                    <a:pt x="934974" y="209296"/>
                    <a:pt x="934974" y="467487"/>
                  </a:cubicBezTo>
                  <a:cubicBezTo>
                    <a:pt x="934974" y="725678"/>
                    <a:pt x="725678" y="935101"/>
                    <a:pt x="467487" y="935101"/>
                  </a:cubicBezTo>
                  <a:cubicBezTo>
                    <a:pt x="209296" y="935101"/>
                    <a:pt x="0" y="725678"/>
                    <a:pt x="0" y="467487"/>
                  </a:cubicBezTo>
                  <a:close/>
                </a:path>
              </a:pathLst>
            </a:custGeom>
            <a:solidFill>
              <a:srgbClr val="8061FF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473660" y="3004395"/>
            <a:ext cx="315506" cy="315516"/>
          </a:xfrm>
          <a:custGeom>
            <a:avLst/>
            <a:gdLst/>
            <a:ahLst/>
            <a:cxnLst/>
            <a:rect r="r" b="b" t="t" l="l"/>
            <a:pathLst>
              <a:path h="315516" w="315506">
                <a:moveTo>
                  <a:pt x="0" y="0"/>
                </a:moveTo>
                <a:lnTo>
                  <a:pt x="315506" y="0"/>
                </a:lnTo>
                <a:lnTo>
                  <a:pt x="315506" y="315515"/>
                </a:lnTo>
                <a:lnTo>
                  <a:pt x="0" y="3155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883" t="0" r="-5883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80779" y="3676355"/>
            <a:ext cx="3347056" cy="36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D9E1FF"/>
                </a:solidFill>
                <a:latin typeface="Syne Bold"/>
                <a:ea typeface="Syne Bold"/>
                <a:cs typeface="Syne Bold"/>
                <a:sym typeface="Syne Bold"/>
              </a:rPr>
              <a:t>Projects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044107" y="2577856"/>
            <a:ext cx="3814515" cy="1695002"/>
            <a:chOff x="0" y="0"/>
            <a:chExt cx="5086020" cy="22600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85969" cy="2259965"/>
            </a:xfrm>
            <a:custGeom>
              <a:avLst/>
              <a:gdLst/>
              <a:ahLst/>
              <a:cxnLst/>
              <a:rect r="r" b="b" t="t" l="l"/>
              <a:pathLst>
                <a:path h="2259965" w="5085969">
                  <a:moveTo>
                    <a:pt x="0" y="46736"/>
                  </a:moveTo>
                  <a:cubicBezTo>
                    <a:pt x="0" y="20955"/>
                    <a:pt x="20955" y="0"/>
                    <a:pt x="46736" y="0"/>
                  </a:cubicBezTo>
                  <a:lnTo>
                    <a:pt x="5039233" y="0"/>
                  </a:lnTo>
                  <a:cubicBezTo>
                    <a:pt x="5065014" y="0"/>
                    <a:pt x="5085969" y="20955"/>
                    <a:pt x="5085969" y="46736"/>
                  </a:cubicBezTo>
                  <a:lnTo>
                    <a:pt x="5085969" y="2213229"/>
                  </a:lnTo>
                  <a:cubicBezTo>
                    <a:pt x="5085969" y="2239010"/>
                    <a:pt x="5065014" y="2259965"/>
                    <a:pt x="5039233" y="2259965"/>
                  </a:cubicBezTo>
                  <a:lnTo>
                    <a:pt x="46736" y="2259965"/>
                  </a:lnTo>
                  <a:cubicBezTo>
                    <a:pt x="20955" y="2259965"/>
                    <a:pt x="0" y="2239010"/>
                    <a:pt x="0" y="2213229"/>
                  </a:cubicBezTo>
                  <a:close/>
                </a:path>
              </a:pathLst>
            </a:custGeom>
            <a:solidFill>
              <a:srgbClr val="2B295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277764" y="2811513"/>
            <a:ext cx="701259" cy="701278"/>
            <a:chOff x="0" y="0"/>
            <a:chExt cx="935012" cy="9350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34974" cy="935101"/>
            </a:xfrm>
            <a:custGeom>
              <a:avLst/>
              <a:gdLst/>
              <a:ahLst/>
              <a:cxnLst/>
              <a:rect r="r" b="b" t="t" l="l"/>
              <a:pathLst>
                <a:path h="935101" w="934974">
                  <a:moveTo>
                    <a:pt x="0" y="467487"/>
                  </a:moveTo>
                  <a:cubicBezTo>
                    <a:pt x="0" y="209296"/>
                    <a:pt x="209296" y="0"/>
                    <a:pt x="467487" y="0"/>
                  </a:cubicBezTo>
                  <a:cubicBezTo>
                    <a:pt x="725678" y="0"/>
                    <a:pt x="934974" y="209296"/>
                    <a:pt x="934974" y="467487"/>
                  </a:cubicBezTo>
                  <a:cubicBezTo>
                    <a:pt x="934974" y="725678"/>
                    <a:pt x="725678" y="935101"/>
                    <a:pt x="467487" y="935101"/>
                  </a:cubicBezTo>
                  <a:cubicBezTo>
                    <a:pt x="209296" y="935101"/>
                    <a:pt x="0" y="725678"/>
                    <a:pt x="0" y="467487"/>
                  </a:cubicBezTo>
                  <a:close/>
                </a:path>
              </a:pathLst>
            </a:custGeom>
            <a:solidFill>
              <a:srgbClr val="8061FF"/>
            </a:solidFill>
          </p:spPr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5470636" y="3004395"/>
            <a:ext cx="315506" cy="315516"/>
          </a:xfrm>
          <a:custGeom>
            <a:avLst/>
            <a:gdLst/>
            <a:ahLst/>
            <a:cxnLst/>
            <a:rect r="r" b="b" t="t" l="l"/>
            <a:pathLst>
              <a:path h="315516" w="315506">
                <a:moveTo>
                  <a:pt x="0" y="0"/>
                </a:moveTo>
                <a:lnTo>
                  <a:pt x="315506" y="0"/>
                </a:lnTo>
                <a:lnTo>
                  <a:pt x="315506" y="315515"/>
                </a:lnTo>
                <a:lnTo>
                  <a:pt x="0" y="3155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9115" r="0" b="-19115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277764" y="3676355"/>
            <a:ext cx="3347209" cy="36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D9E1FF"/>
                </a:solidFill>
                <a:latin typeface="Syne Bold"/>
                <a:ea typeface="Syne Bold"/>
                <a:cs typeface="Syne Bold"/>
                <a:sym typeface="Syne Bold"/>
              </a:rPr>
              <a:t>Connectors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47131" y="4455471"/>
            <a:ext cx="3814372" cy="1695002"/>
            <a:chOff x="0" y="0"/>
            <a:chExt cx="5085829" cy="22600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85842" cy="2259965"/>
            </a:xfrm>
            <a:custGeom>
              <a:avLst/>
              <a:gdLst/>
              <a:ahLst/>
              <a:cxnLst/>
              <a:rect r="r" b="b" t="t" l="l"/>
              <a:pathLst>
                <a:path h="2259965" w="5085842">
                  <a:moveTo>
                    <a:pt x="0" y="46736"/>
                  </a:moveTo>
                  <a:cubicBezTo>
                    <a:pt x="0" y="20955"/>
                    <a:pt x="20955" y="0"/>
                    <a:pt x="46736" y="0"/>
                  </a:cubicBezTo>
                  <a:lnTo>
                    <a:pt x="5039106" y="0"/>
                  </a:lnTo>
                  <a:cubicBezTo>
                    <a:pt x="5064887" y="0"/>
                    <a:pt x="5085842" y="20955"/>
                    <a:pt x="5085842" y="46736"/>
                  </a:cubicBezTo>
                  <a:lnTo>
                    <a:pt x="5085842" y="2213229"/>
                  </a:lnTo>
                  <a:cubicBezTo>
                    <a:pt x="5085842" y="2239010"/>
                    <a:pt x="5064887" y="2259965"/>
                    <a:pt x="5039106" y="2259965"/>
                  </a:cubicBezTo>
                  <a:lnTo>
                    <a:pt x="46736" y="2259965"/>
                  </a:lnTo>
                  <a:cubicBezTo>
                    <a:pt x="20955" y="2259965"/>
                    <a:pt x="0" y="2239010"/>
                    <a:pt x="0" y="2213229"/>
                  </a:cubicBezTo>
                  <a:close/>
                </a:path>
              </a:pathLst>
            </a:custGeom>
            <a:solidFill>
              <a:srgbClr val="2B295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80779" y="4689129"/>
            <a:ext cx="701259" cy="701278"/>
            <a:chOff x="0" y="0"/>
            <a:chExt cx="935012" cy="93503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34974" cy="935101"/>
            </a:xfrm>
            <a:custGeom>
              <a:avLst/>
              <a:gdLst/>
              <a:ahLst/>
              <a:cxnLst/>
              <a:rect r="r" b="b" t="t" l="l"/>
              <a:pathLst>
                <a:path h="935101" w="934974">
                  <a:moveTo>
                    <a:pt x="0" y="467487"/>
                  </a:moveTo>
                  <a:cubicBezTo>
                    <a:pt x="0" y="209296"/>
                    <a:pt x="209296" y="0"/>
                    <a:pt x="467487" y="0"/>
                  </a:cubicBezTo>
                  <a:cubicBezTo>
                    <a:pt x="725678" y="0"/>
                    <a:pt x="934974" y="209296"/>
                    <a:pt x="934974" y="467487"/>
                  </a:cubicBezTo>
                  <a:cubicBezTo>
                    <a:pt x="934974" y="725678"/>
                    <a:pt x="725678" y="935101"/>
                    <a:pt x="467487" y="935101"/>
                  </a:cubicBezTo>
                  <a:cubicBezTo>
                    <a:pt x="209296" y="935101"/>
                    <a:pt x="0" y="725678"/>
                    <a:pt x="0" y="467487"/>
                  </a:cubicBezTo>
                  <a:close/>
                </a:path>
              </a:pathLst>
            </a:custGeom>
            <a:solidFill>
              <a:srgbClr val="8061FF"/>
            </a:solidFill>
          </p:spPr>
        </p:sp>
      </p:grpSp>
      <p:sp>
        <p:nvSpPr>
          <p:cNvPr name="Freeform 24" id="24" descr="preencoded.png"/>
          <p:cNvSpPr/>
          <p:nvPr/>
        </p:nvSpPr>
        <p:spPr>
          <a:xfrm flipH="false" flipV="false" rot="0">
            <a:off x="1473660" y="4882010"/>
            <a:ext cx="315506" cy="315516"/>
          </a:xfrm>
          <a:custGeom>
            <a:avLst/>
            <a:gdLst/>
            <a:ahLst/>
            <a:cxnLst/>
            <a:rect r="r" b="b" t="t" l="l"/>
            <a:pathLst>
              <a:path h="315516" w="315506">
                <a:moveTo>
                  <a:pt x="0" y="0"/>
                </a:moveTo>
                <a:lnTo>
                  <a:pt x="315506" y="0"/>
                </a:lnTo>
                <a:lnTo>
                  <a:pt x="315506" y="315516"/>
                </a:lnTo>
                <a:lnTo>
                  <a:pt x="0" y="3155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30879" r="0" b="-30879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280779" y="5553970"/>
            <a:ext cx="3347056" cy="36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D9E1FF"/>
                </a:solidFill>
                <a:latin typeface="Syne Bold"/>
                <a:ea typeface="Syne Bold"/>
                <a:cs typeface="Syne Bold"/>
                <a:sym typeface="Syne Bold"/>
              </a:rPr>
              <a:t>Skills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044107" y="4455471"/>
            <a:ext cx="3814515" cy="1695002"/>
            <a:chOff x="0" y="0"/>
            <a:chExt cx="5086020" cy="22600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085969" cy="2259965"/>
            </a:xfrm>
            <a:custGeom>
              <a:avLst/>
              <a:gdLst/>
              <a:ahLst/>
              <a:cxnLst/>
              <a:rect r="r" b="b" t="t" l="l"/>
              <a:pathLst>
                <a:path h="2259965" w="5085969">
                  <a:moveTo>
                    <a:pt x="0" y="46736"/>
                  </a:moveTo>
                  <a:cubicBezTo>
                    <a:pt x="0" y="20955"/>
                    <a:pt x="20955" y="0"/>
                    <a:pt x="46736" y="0"/>
                  </a:cubicBezTo>
                  <a:lnTo>
                    <a:pt x="5039233" y="0"/>
                  </a:lnTo>
                  <a:cubicBezTo>
                    <a:pt x="5065014" y="0"/>
                    <a:pt x="5085969" y="20955"/>
                    <a:pt x="5085969" y="46736"/>
                  </a:cubicBezTo>
                  <a:lnTo>
                    <a:pt x="5085969" y="2213229"/>
                  </a:lnTo>
                  <a:cubicBezTo>
                    <a:pt x="5085969" y="2239010"/>
                    <a:pt x="5065014" y="2259965"/>
                    <a:pt x="5039233" y="2259965"/>
                  </a:cubicBezTo>
                  <a:lnTo>
                    <a:pt x="46736" y="2259965"/>
                  </a:lnTo>
                  <a:cubicBezTo>
                    <a:pt x="20955" y="2259965"/>
                    <a:pt x="0" y="2239010"/>
                    <a:pt x="0" y="2213229"/>
                  </a:cubicBezTo>
                  <a:close/>
                </a:path>
              </a:pathLst>
            </a:custGeom>
            <a:solidFill>
              <a:srgbClr val="2B2952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277764" y="4689129"/>
            <a:ext cx="701259" cy="701278"/>
            <a:chOff x="0" y="0"/>
            <a:chExt cx="935012" cy="9350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34974" cy="935101"/>
            </a:xfrm>
            <a:custGeom>
              <a:avLst/>
              <a:gdLst/>
              <a:ahLst/>
              <a:cxnLst/>
              <a:rect r="r" b="b" t="t" l="l"/>
              <a:pathLst>
                <a:path h="935101" w="934974">
                  <a:moveTo>
                    <a:pt x="0" y="467487"/>
                  </a:moveTo>
                  <a:cubicBezTo>
                    <a:pt x="0" y="209296"/>
                    <a:pt x="209296" y="0"/>
                    <a:pt x="467487" y="0"/>
                  </a:cubicBezTo>
                  <a:cubicBezTo>
                    <a:pt x="725678" y="0"/>
                    <a:pt x="934974" y="209296"/>
                    <a:pt x="934974" y="467487"/>
                  </a:cubicBezTo>
                  <a:cubicBezTo>
                    <a:pt x="934974" y="725678"/>
                    <a:pt x="725678" y="935101"/>
                    <a:pt x="467487" y="935101"/>
                  </a:cubicBezTo>
                  <a:cubicBezTo>
                    <a:pt x="209296" y="935101"/>
                    <a:pt x="0" y="725678"/>
                    <a:pt x="0" y="467487"/>
                  </a:cubicBezTo>
                  <a:close/>
                </a:path>
              </a:pathLst>
            </a:custGeom>
            <a:solidFill>
              <a:srgbClr val="8061FF"/>
            </a:solidFill>
          </p:spPr>
        </p:sp>
      </p:grpSp>
      <p:sp>
        <p:nvSpPr>
          <p:cNvPr name="Freeform 30" id="30" descr="preencoded.png"/>
          <p:cNvSpPr/>
          <p:nvPr/>
        </p:nvSpPr>
        <p:spPr>
          <a:xfrm flipH="false" flipV="false" rot="0">
            <a:off x="5470636" y="4882010"/>
            <a:ext cx="315506" cy="315516"/>
          </a:xfrm>
          <a:custGeom>
            <a:avLst/>
            <a:gdLst/>
            <a:ahLst/>
            <a:cxnLst/>
            <a:rect r="r" b="b" t="t" l="l"/>
            <a:pathLst>
              <a:path h="315516" w="315506">
                <a:moveTo>
                  <a:pt x="0" y="0"/>
                </a:moveTo>
                <a:lnTo>
                  <a:pt x="315506" y="0"/>
                </a:lnTo>
                <a:lnTo>
                  <a:pt x="315506" y="315516"/>
                </a:lnTo>
                <a:lnTo>
                  <a:pt x="0" y="31551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470" r="0" b="-1467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5277764" y="5553970"/>
            <a:ext cx="3347209" cy="36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D9E1FF"/>
                </a:solidFill>
                <a:latin typeface="Syne Bold"/>
                <a:ea typeface="Syne Bold"/>
                <a:cs typeface="Syne Bold"/>
                <a:sym typeface="Syne Bold"/>
              </a:rPr>
              <a:t>Workflows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47131" y="6333087"/>
            <a:ext cx="3814372" cy="1695002"/>
            <a:chOff x="0" y="0"/>
            <a:chExt cx="5085829" cy="22600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85842" cy="2259965"/>
            </a:xfrm>
            <a:custGeom>
              <a:avLst/>
              <a:gdLst/>
              <a:ahLst/>
              <a:cxnLst/>
              <a:rect r="r" b="b" t="t" l="l"/>
              <a:pathLst>
                <a:path h="2259965" w="5085842">
                  <a:moveTo>
                    <a:pt x="0" y="46736"/>
                  </a:moveTo>
                  <a:cubicBezTo>
                    <a:pt x="0" y="20955"/>
                    <a:pt x="20955" y="0"/>
                    <a:pt x="46736" y="0"/>
                  </a:cubicBezTo>
                  <a:lnTo>
                    <a:pt x="5039106" y="0"/>
                  </a:lnTo>
                  <a:cubicBezTo>
                    <a:pt x="5064887" y="0"/>
                    <a:pt x="5085842" y="20955"/>
                    <a:pt x="5085842" y="46736"/>
                  </a:cubicBezTo>
                  <a:lnTo>
                    <a:pt x="5085842" y="2213229"/>
                  </a:lnTo>
                  <a:cubicBezTo>
                    <a:pt x="5085842" y="2239010"/>
                    <a:pt x="5064887" y="2259965"/>
                    <a:pt x="5039106" y="2259965"/>
                  </a:cubicBezTo>
                  <a:lnTo>
                    <a:pt x="46736" y="2259965"/>
                  </a:lnTo>
                  <a:cubicBezTo>
                    <a:pt x="20955" y="2259965"/>
                    <a:pt x="0" y="2239010"/>
                    <a:pt x="0" y="2213229"/>
                  </a:cubicBezTo>
                  <a:close/>
                </a:path>
              </a:pathLst>
            </a:custGeom>
            <a:solidFill>
              <a:srgbClr val="2B2952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80779" y="6566745"/>
            <a:ext cx="701259" cy="701278"/>
            <a:chOff x="0" y="0"/>
            <a:chExt cx="935012" cy="93503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34974" cy="935101"/>
            </a:xfrm>
            <a:custGeom>
              <a:avLst/>
              <a:gdLst/>
              <a:ahLst/>
              <a:cxnLst/>
              <a:rect r="r" b="b" t="t" l="l"/>
              <a:pathLst>
                <a:path h="935101" w="934974">
                  <a:moveTo>
                    <a:pt x="0" y="467487"/>
                  </a:moveTo>
                  <a:cubicBezTo>
                    <a:pt x="0" y="209296"/>
                    <a:pt x="209296" y="0"/>
                    <a:pt x="467487" y="0"/>
                  </a:cubicBezTo>
                  <a:cubicBezTo>
                    <a:pt x="725678" y="0"/>
                    <a:pt x="934974" y="209296"/>
                    <a:pt x="934974" y="467487"/>
                  </a:cubicBezTo>
                  <a:cubicBezTo>
                    <a:pt x="934974" y="725678"/>
                    <a:pt x="725678" y="935101"/>
                    <a:pt x="467487" y="935101"/>
                  </a:cubicBezTo>
                  <a:cubicBezTo>
                    <a:pt x="209296" y="935101"/>
                    <a:pt x="0" y="725678"/>
                    <a:pt x="0" y="467487"/>
                  </a:cubicBezTo>
                  <a:close/>
                </a:path>
              </a:pathLst>
            </a:custGeom>
            <a:solidFill>
              <a:srgbClr val="8061FF"/>
            </a:solidFill>
          </p:spPr>
        </p:sp>
      </p:grpSp>
      <p:sp>
        <p:nvSpPr>
          <p:cNvPr name="Freeform 36" id="36" descr="preencoded.png"/>
          <p:cNvSpPr/>
          <p:nvPr/>
        </p:nvSpPr>
        <p:spPr>
          <a:xfrm flipH="false" flipV="false" rot="0">
            <a:off x="1473660" y="6759626"/>
            <a:ext cx="315506" cy="315516"/>
          </a:xfrm>
          <a:custGeom>
            <a:avLst/>
            <a:gdLst/>
            <a:ahLst/>
            <a:cxnLst/>
            <a:rect r="r" b="b" t="t" l="l"/>
            <a:pathLst>
              <a:path h="315516" w="315506">
                <a:moveTo>
                  <a:pt x="0" y="0"/>
                </a:moveTo>
                <a:lnTo>
                  <a:pt x="315506" y="0"/>
                </a:lnTo>
                <a:lnTo>
                  <a:pt x="315506" y="315515"/>
                </a:lnTo>
                <a:lnTo>
                  <a:pt x="0" y="31551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5880" r="0" b="-588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280779" y="7431586"/>
            <a:ext cx="3347056" cy="36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D9E1FF"/>
                </a:solidFill>
                <a:latin typeface="Syne Bold"/>
                <a:ea typeface="Syne Bold"/>
                <a:cs typeface="Syne Bold"/>
                <a:sym typeface="Syne Bold"/>
              </a:rPr>
              <a:t>Files &amp; Data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5044107" y="6333087"/>
            <a:ext cx="3814515" cy="1695002"/>
            <a:chOff x="0" y="0"/>
            <a:chExt cx="5086020" cy="226000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085969" cy="2259965"/>
            </a:xfrm>
            <a:custGeom>
              <a:avLst/>
              <a:gdLst/>
              <a:ahLst/>
              <a:cxnLst/>
              <a:rect r="r" b="b" t="t" l="l"/>
              <a:pathLst>
                <a:path h="2259965" w="5085969">
                  <a:moveTo>
                    <a:pt x="0" y="46736"/>
                  </a:moveTo>
                  <a:cubicBezTo>
                    <a:pt x="0" y="20955"/>
                    <a:pt x="20955" y="0"/>
                    <a:pt x="46736" y="0"/>
                  </a:cubicBezTo>
                  <a:lnTo>
                    <a:pt x="5039233" y="0"/>
                  </a:lnTo>
                  <a:cubicBezTo>
                    <a:pt x="5065014" y="0"/>
                    <a:pt x="5085969" y="20955"/>
                    <a:pt x="5085969" y="46736"/>
                  </a:cubicBezTo>
                  <a:lnTo>
                    <a:pt x="5085969" y="2213229"/>
                  </a:lnTo>
                  <a:cubicBezTo>
                    <a:pt x="5085969" y="2239010"/>
                    <a:pt x="5065014" y="2259965"/>
                    <a:pt x="5039233" y="2259965"/>
                  </a:cubicBezTo>
                  <a:lnTo>
                    <a:pt x="46736" y="2259965"/>
                  </a:lnTo>
                  <a:cubicBezTo>
                    <a:pt x="20955" y="2259965"/>
                    <a:pt x="0" y="2239010"/>
                    <a:pt x="0" y="2213229"/>
                  </a:cubicBezTo>
                  <a:close/>
                </a:path>
              </a:pathLst>
            </a:custGeom>
            <a:solidFill>
              <a:srgbClr val="2B2952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277764" y="6566745"/>
            <a:ext cx="701259" cy="701278"/>
            <a:chOff x="0" y="0"/>
            <a:chExt cx="935012" cy="93503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34974" cy="935101"/>
            </a:xfrm>
            <a:custGeom>
              <a:avLst/>
              <a:gdLst/>
              <a:ahLst/>
              <a:cxnLst/>
              <a:rect r="r" b="b" t="t" l="l"/>
              <a:pathLst>
                <a:path h="935101" w="934974">
                  <a:moveTo>
                    <a:pt x="0" y="467487"/>
                  </a:moveTo>
                  <a:cubicBezTo>
                    <a:pt x="0" y="209296"/>
                    <a:pt x="209296" y="0"/>
                    <a:pt x="467487" y="0"/>
                  </a:cubicBezTo>
                  <a:cubicBezTo>
                    <a:pt x="725678" y="0"/>
                    <a:pt x="934974" y="209296"/>
                    <a:pt x="934974" y="467487"/>
                  </a:cubicBezTo>
                  <a:cubicBezTo>
                    <a:pt x="934974" y="725678"/>
                    <a:pt x="725678" y="935101"/>
                    <a:pt x="467487" y="935101"/>
                  </a:cubicBezTo>
                  <a:cubicBezTo>
                    <a:pt x="209296" y="935101"/>
                    <a:pt x="0" y="725678"/>
                    <a:pt x="0" y="467487"/>
                  </a:cubicBezTo>
                  <a:close/>
                </a:path>
              </a:pathLst>
            </a:custGeom>
            <a:solidFill>
              <a:srgbClr val="8061FF"/>
            </a:solidFill>
          </p:spPr>
        </p:sp>
      </p:grpSp>
      <p:sp>
        <p:nvSpPr>
          <p:cNvPr name="Freeform 42" id="42" descr="preencoded.png"/>
          <p:cNvSpPr/>
          <p:nvPr/>
        </p:nvSpPr>
        <p:spPr>
          <a:xfrm flipH="false" flipV="false" rot="0">
            <a:off x="5470636" y="6759626"/>
            <a:ext cx="315506" cy="315516"/>
          </a:xfrm>
          <a:custGeom>
            <a:avLst/>
            <a:gdLst/>
            <a:ahLst/>
            <a:cxnLst/>
            <a:rect r="r" b="b" t="t" l="l"/>
            <a:pathLst>
              <a:path h="315516" w="315506">
                <a:moveTo>
                  <a:pt x="0" y="0"/>
                </a:moveTo>
                <a:lnTo>
                  <a:pt x="315506" y="0"/>
                </a:lnTo>
                <a:lnTo>
                  <a:pt x="315506" y="315515"/>
                </a:lnTo>
                <a:lnTo>
                  <a:pt x="0" y="31551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22055" r="0" b="-22058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5277764" y="7431586"/>
            <a:ext cx="3347209" cy="36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D9E1FF"/>
                </a:solidFill>
                <a:latin typeface="Syne Bold"/>
                <a:ea typeface="Syne Bold"/>
                <a:cs typeface="Syne Bold"/>
                <a:sym typeface="Syne Bold"/>
              </a:rPr>
              <a:t>Using Claude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438446" y="2009623"/>
            <a:ext cx="7811491" cy="36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b="true" sz="2100">
                <a:solidFill>
                  <a:srgbClr val="FF7A00"/>
                </a:solidFill>
                <a:latin typeface="Syne Bold"/>
                <a:ea typeface="Syne Bold"/>
                <a:cs typeface="Syne Bold"/>
                <a:sym typeface="Syne Bold"/>
              </a:rPr>
              <a:t>The Problem: Messy Data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438446" y="2497931"/>
            <a:ext cx="8725872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18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Inconsistent datasets make analysis unreliable. Common issues include:</a:t>
            </a:r>
          </a:p>
        </p:txBody>
      </p:sp>
      <p:sp>
        <p:nvSpPr>
          <p:cNvPr name="Freeform 46" id="46" descr="preencoded.png"/>
          <p:cNvSpPr/>
          <p:nvPr/>
        </p:nvSpPr>
        <p:spPr>
          <a:xfrm flipH="false" flipV="false" rot="0">
            <a:off x="9526105" y="3104998"/>
            <a:ext cx="350634" cy="350634"/>
          </a:xfrm>
          <a:custGeom>
            <a:avLst/>
            <a:gdLst/>
            <a:ahLst/>
            <a:cxnLst/>
            <a:rect r="r" b="b" t="t" l="l"/>
            <a:pathLst>
              <a:path h="350634" w="350634">
                <a:moveTo>
                  <a:pt x="0" y="0"/>
                </a:moveTo>
                <a:lnTo>
                  <a:pt x="350634" y="0"/>
                </a:lnTo>
                <a:lnTo>
                  <a:pt x="350634" y="350634"/>
                </a:lnTo>
                <a:lnTo>
                  <a:pt x="0" y="35063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8108" t="0" r="-8108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10198046" y="3036389"/>
            <a:ext cx="7051900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18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Duplicate records</a:t>
            </a:r>
          </a:p>
        </p:txBody>
      </p:sp>
      <p:sp>
        <p:nvSpPr>
          <p:cNvPr name="Freeform 48" id="48" descr="preencoded.png"/>
          <p:cNvSpPr/>
          <p:nvPr/>
        </p:nvSpPr>
        <p:spPr>
          <a:xfrm flipH="false" flipV="false" rot="0">
            <a:off x="9526105" y="4183113"/>
            <a:ext cx="350634" cy="350634"/>
          </a:xfrm>
          <a:custGeom>
            <a:avLst/>
            <a:gdLst/>
            <a:ahLst/>
            <a:cxnLst/>
            <a:rect r="r" b="b" t="t" l="l"/>
            <a:pathLst>
              <a:path h="350634" w="350634">
                <a:moveTo>
                  <a:pt x="0" y="0"/>
                </a:moveTo>
                <a:lnTo>
                  <a:pt x="350634" y="0"/>
                </a:lnTo>
                <a:lnTo>
                  <a:pt x="350634" y="350635"/>
                </a:lnTo>
                <a:lnTo>
                  <a:pt x="0" y="35063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8108" t="0" r="-8108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0198046" y="4114505"/>
            <a:ext cx="7051900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18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Inconsistent country names</a:t>
            </a:r>
          </a:p>
        </p:txBody>
      </p:sp>
      <p:sp>
        <p:nvSpPr>
          <p:cNvPr name="Freeform 50" id="50" descr="preencoded.png"/>
          <p:cNvSpPr/>
          <p:nvPr/>
        </p:nvSpPr>
        <p:spPr>
          <a:xfrm flipH="false" flipV="false" rot="0">
            <a:off x="9526105" y="5261219"/>
            <a:ext cx="350634" cy="350634"/>
          </a:xfrm>
          <a:custGeom>
            <a:avLst/>
            <a:gdLst/>
            <a:ahLst/>
            <a:cxnLst/>
            <a:rect r="r" b="b" t="t" l="l"/>
            <a:pathLst>
              <a:path h="350634" w="350634">
                <a:moveTo>
                  <a:pt x="0" y="0"/>
                </a:moveTo>
                <a:lnTo>
                  <a:pt x="350634" y="0"/>
                </a:lnTo>
                <a:lnTo>
                  <a:pt x="350634" y="350635"/>
                </a:lnTo>
                <a:lnTo>
                  <a:pt x="0" y="35063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8108" t="0" r="-8108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10198046" y="5192611"/>
            <a:ext cx="7051900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18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Mixed date formats</a:t>
            </a:r>
          </a:p>
        </p:txBody>
      </p:sp>
      <p:sp>
        <p:nvSpPr>
          <p:cNvPr name="Freeform 52" id="52" descr="preencoded.png"/>
          <p:cNvSpPr/>
          <p:nvPr/>
        </p:nvSpPr>
        <p:spPr>
          <a:xfrm flipH="false" flipV="false" rot="0">
            <a:off x="9526105" y="6339335"/>
            <a:ext cx="350634" cy="350634"/>
          </a:xfrm>
          <a:custGeom>
            <a:avLst/>
            <a:gdLst/>
            <a:ahLst/>
            <a:cxnLst/>
            <a:rect r="r" b="b" t="t" l="l"/>
            <a:pathLst>
              <a:path h="350634" w="350634">
                <a:moveTo>
                  <a:pt x="0" y="0"/>
                </a:moveTo>
                <a:lnTo>
                  <a:pt x="350634" y="0"/>
                </a:lnTo>
                <a:lnTo>
                  <a:pt x="350634" y="350634"/>
                </a:lnTo>
                <a:lnTo>
                  <a:pt x="0" y="35063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8108" t="0" r="-8108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10198046" y="6270727"/>
            <a:ext cx="7051900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18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Missing values</a:t>
            </a:r>
          </a:p>
        </p:txBody>
      </p:sp>
      <p:sp>
        <p:nvSpPr>
          <p:cNvPr name="Freeform 54" id="54" descr="preencoded.png"/>
          <p:cNvSpPr/>
          <p:nvPr/>
        </p:nvSpPr>
        <p:spPr>
          <a:xfrm flipH="false" flipV="false" rot="0">
            <a:off x="9526105" y="7417441"/>
            <a:ext cx="350634" cy="350634"/>
          </a:xfrm>
          <a:custGeom>
            <a:avLst/>
            <a:gdLst/>
            <a:ahLst/>
            <a:cxnLst/>
            <a:rect r="r" b="b" t="t" l="l"/>
            <a:pathLst>
              <a:path h="350634" w="350634">
                <a:moveTo>
                  <a:pt x="0" y="0"/>
                </a:moveTo>
                <a:lnTo>
                  <a:pt x="350634" y="0"/>
                </a:lnTo>
                <a:lnTo>
                  <a:pt x="350634" y="350635"/>
                </a:lnTo>
                <a:lnTo>
                  <a:pt x="0" y="35063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8108" t="0" r="-8108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10198046" y="7348833"/>
            <a:ext cx="7051900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18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Incorrect data types</a:t>
            </a:r>
          </a:p>
        </p:txBody>
      </p:sp>
      <p:sp>
        <p:nvSpPr>
          <p:cNvPr name="Freeform 56" id="56" descr="preencoded.png"/>
          <p:cNvSpPr/>
          <p:nvPr/>
        </p:nvSpPr>
        <p:spPr>
          <a:xfrm flipH="false" flipV="false" rot="0">
            <a:off x="9526105" y="8495557"/>
            <a:ext cx="350634" cy="350634"/>
          </a:xfrm>
          <a:custGeom>
            <a:avLst/>
            <a:gdLst/>
            <a:ahLst/>
            <a:cxnLst/>
            <a:rect r="r" b="b" t="t" l="l"/>
            <a:pathLst>
              <a:path h="350634" w="350634">
                <a:moveTo>
                  <a:pt x="0" y="0"/>
                </a:moveTo>
                <a:lnTo>
                  <a:pt x="350634" y="0"/>
                </a:lnTo>
                <a:lnTo>
                  <a:pt x="350634" y="350634"/>
                </a:lnTo>
                <a:lnTo>
                  <a:pt x="0" y="35063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8108" t="0" r="-8108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10198046" y="8426948"/>
            <a:ext cx="7051900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18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Suspicious or ambiguous values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0D4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A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131" y="803824"/>
            <a:ext cx="16193291" cy="45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b="true" sz="2700">
                <a:solidFill>
                  <a:srgbClr val="FF7A00"/>
                </a:solidFill>
                <a:latin typeface="Syne Bold"/>
                <a:ea typeface="Syne Bold"/>
                <a:cs typeface="Syne Bold"/>
                <a:sym typeface="Syne Bold"/>
              </a:rPr>
              <a:t>My Solution — Data Quality Radar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131" y="1393327"/>
            <a:ext cx="808863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82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A Claude Skill that turns data-quality checking into a </a:t>
            </a:r>
            <a:r>
              <a:rPr lang="en-US" sz="1824" b="true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reusable, safe workflow</a:t>
            </a:r>
            <a:r>
              <a:rPr lang="en-US" sz="182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920430" y="1675952"/>
            <a:ext cx="14446682" cy="7894434"/>
            <a:chOff x="0" y="0"/>
            <a:chExt cx="19262242" cy="10525912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9262217" cy="10525887"/>
            </a:xfrm>
            <a:custGeom>
              <a:avLst/>
              <a:gdLst/>
              <a:ahLst/>
              <a:cxnLst/>
              <a:rect r="r" b="b" t="t" l="l"/>
              <a:pathLst>
                <a:path h="10525887" w="19262217">
                  <a:moveTo>
                    <a:pt x="0" y="0"/>
                  </a:moveTo>
                  <a:lnTo>
                    <a:pt x="19262217" y="0"/>
                  </a:lnTo>
                  <a:lnTo>
                    <a:pt x="19262217" y="10525887"/>
                  </a:lnTo>
                  <a:lnTo>
                    <a:pt x="0" y="10525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" r="0" b="-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825459" y="5369328"/>
            <a:ext cx="3347409" cy="447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 b="tru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Syne Bold"/>
              </a:rPr>
              <a:t>Inspect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78239" y="5317960"/>
            <a:ext cx="3347409" cy="447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 b="tru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Syne Bold"/>
              </a:rPr>
              <a:t>Detect Issues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49009" y="5334667"/>
            <a:ext cx="3347409" cy="447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 b="tru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Syne Bold"/>
              </a:rPr>
              <a:t>Clean Data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47131" y="9654483"/>
            <a:ext cx="16193291" cy="396183"/>
            <a:chOff x="0" y="0"/>
            <a:chExt cx="21591054" cy="5282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591143" cy="528320"/>
            </a:xfrm>
            <a:custGeom>
              <a:avLst/>
              <a:gdLst/>
              <a:ahLst/>
              <a:cxnLst/>
              <a:rect r="r" b="b" t="t" l="l"/>
              <a:pathLst>
                <a:path h="528320" w="21591143">
                  <a:moveTo>
                    <a:pt x="0" y="29972"/>
                  </a:moveTo>
                  <a:cubicBezTo>
                    <a:pt x="0" y="13335"/>
                    <a:pt x="13335" y="0"/>
                    <a:pt x="29972" y="0"/>
                  </a:cubicBezTo>
                  <a:lnTo>
                    <a:pt x="21561171" y="0"/>
                  </a:lnTo>
                  <a:cubicBezTo>
                    <a:pt x="21577681" y="0"/>
                    <a:pt x="21591143" y="13335"/>
                    <a:pt x="21591143" y="29972"/>
                  </a:cubicBezTo>
                  <a:lnTo>
                    <a:pt x="21591143" y="498348"/>
                  </a:lnTo>
                  <a:cubicBezTo>
                    <a:pt x="21591143" y="514858"/>
                    <a:pt x="21577808" y="528320"/>
                    <a:pt x="21561171" y="528320"/>
                  </a:cubicBezTo>
                  <a:lnTo>
                    <a:pt x="29972" y="528320"/>
                  </a:lnTo>
                  <a:cubicBezTo>
                    <a:pt x="13335" y="528193"/>
                    <a:pt x="0" y="514858"/>
                    <a:pt x="0" y="498348"/>
                  </a:cubicBezTo>
                  <a:close/>
                </a:path>
              </a:pathLst>
            </a:custGeom>
            <a:solidFill>
              <a:srgbClr val="19008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96692" y="9766544"/>
            <a:ext cx="186928" cy="149571"/>
            <a:chOff x="0" y="0"/>
            <a:chExt cx="249238" cy="199428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249174" cy="199390"/>
            </a:xfrm>
            <a:custGeom>
              <a:avLst/>
              <a:gdLst/>
              <a:ahLst/>
              <a:cxnLst/>
              <a:rect r="r" b="b" t="t" l="l"/>
              <a:pathLst>
                <a:path h="199390" w="249174">
                  <a:moveTo>
                    <a:pt x="0" y="0"/>
                  </a:moveTo>
                  <a:lnTo>
                    <a:pt x="249174" y="0"/>
                  </a:lnTo>
                  <a:lnTo>
                    <a:pt x="249174" y="199390"/>
                  </a:lnTo>
                  <a:lnTo>
                    <a:pt x="0" y="199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" t="0" r="-35" b="-19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652809" y="9685887"/>
            <a:ext cx="1004792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Core principle:</a:t>
            </a:r>
            <a:r>
              <a:rPr lang="en-US" sz="212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Automate what is certain. Flag what is uncertain. Never invent data.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0D4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A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131" y="807396"/>
            <a:ext cx="16193291" cy="702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1"/>
              </a:lnSpc>
            </a:pPr>
            <a:r>
              <a:rPr lang="en-US" b="true" sz="4200">
                <a:solidFill>
                  <a:srgbClr val="FF7A00"/>
                </a:solidFill>
                <a:latin typeface="Syne Bold"/>
                <a:ea typeface="Syne Bold"/>
                <a:cs typeface="Syne Bold"/>
                <a:sym typeface="Syne Bold"/>
              </a:rPr>
              <a:t>Testing the Skill on Realistic Messy Data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47131" y="1969884"/>
            <a:ext cx="10330053" cy="5853713"/>
            <a:chOff x="0" y="0"/>
            <a:chExt cx="13773404" cy="7804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73404" cy="7804912"/>
            </a:xfrm>
            <a:custGeom>
              <a:avLst/>
              <a:gdLst/>
              <a:ahLst/>
              <a:cxnLst/>
              <a:rect r="r" b="b" t="t" l="l"/>
              <a:pathLst>
                <a:path h="7804912" w="13773404">
                  <a:moveTo>
                    <a:pt x="0" y="0"/>
                  </a:moveTo>
                  <a:lnTo>
                    <a:pt x="13773404" y="0"/>
                  </a:lnTo>
                  <a:lnTo>
                    <a:pt x="13773404" y="7804912"/>
                  </a:lnTo>
                  <a:lnTo>
                    <a:pt x="0" y="7804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3529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945388" y="3362773"/>
            <a:ext cx="5304396" cy="355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Syne Bold"/>
              </a:rPr>
              <a:t>The test dataset included: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45388" y="3836784"/>
            <a:ext cx="5304396" cy="268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548"/>
              </a:lnSpc>
              <a:buFont typeface="Arial"/>
              <a:buChar char="•"/>
            </a:pPr>
            <a:r>
              <a:rPr lang="en-US" sz="18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Duplicate rows</a:t>
            </a:r>
          </a:p>
          <a:p>
            <a:pPr algn="l" marL="325755" indent="-162878" lvl="1">
              <a:lnSpc>
                <a:spcPts val="2548"/>
              </a:lnSpc>
              <a:buFont typeface="Arial"/>
              <a:buChar char="•"/>
            </a:pPr>
            <a:r>
              <a:rPr lang="en-US" sz="18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Country inconsistencies</a:t>
            </a:r>
          </a:p>
          <a:p>
            <a:pPr algn="l" marL="325755" indent="-162878" lvl="1">
              <a:lnSpc>
                <a:spcPts val="2548"/>
              </a:lnSpc>
              <a:buFont typeface="Arial"/>
              <a:buChar char="•"/>
            </a:pPr>
            <a:r>
              <a:rPr lang="en-US" sz="18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Mixed &amp; ambiguous dates</a:t>
            </a:r>
          </a:p>
          <a:p>
            <a:pPr algn="l" marL="325755" indent="-162878" lvl="1">
              <a:lnSpc>
                <a:spcPts val="2548"/>
              </a:lnSpc>
              <a:buFont typeface="Arial"/>
              <a:buChar char="•"/>
            </a:pPr>
            <a:r>
              <a:rPr lang="en-US" sz="18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Text-based numbers (e.g., "2.5k")</a:t>
            </a:r>
          </a:p>
          <a:p>
            <a:pPr algn="l" marL="325755" indent="-162878" lvl="1">
              <a:lnSpc>
                <a:spcPts val="2548"/>
              </a:lnSpc>
              <a:buFont typeface="Arial"/>
              <a:buChar char="•"/>
            </a:pPr>
            <a:r>
              <a:rPr lang="en-US" sz="18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Negative revenue values</a:t>
            </a:r>
          </a:p>
          <a:p>
            <a:pPr algn="l" marL="325755" indent="-162878" lvl="1">
              <a:lnSpc>
                <a:spcPts val="2548"/>
              </a:lnSpc>
              <a:buFont typeface="Arial"/>
              <a:buChar char="•"/>
            </a:pPr>
            <a:r>
              <a:rPr lang="en-US" sz="18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Category inconsistencies</a:t>
            </a:r>
          </a:p>
          <a:p>
            <a:pPr algn="l" marL="325755" indent="-162878" lvl="1">
              <a:lnSpc>
                <a:spcPts val="2548"/>
              </a:lnSpc>
              <a:buFont typeface="Arial"/>
              <a:buChar char="•"/>
            </a:pPr>
            <a:r>
              <a:rPr lang="en-US" sz="18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Missing values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47131" y="8217989"/>
            <a:ext cx="16193291" cy="1233040"/>
            <a:chOff x="0" y="0"/>
            <a:chExt cx="21591054" cy="16440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591015" cy="1644142"/>
            </a:xfrm>
            <a:custGeom>
              <a:avLst/>
              <a:gdLst/>
              <a:ahLst/>
              <a:cxnLst/>
              <a:rect r="r" b="b" t="t" l="l"/>
              <a:pathLst>
                <a:path h="1644142" w="21591015">
                  <a:moveTo>
                    <a:pt x="0" y="45847"/>
                  </a:moveTo>
                  <a:cubicBezTo>
                    <a:pt x="0" y="20574"/>
                    <a:pt x="20574" y="0"/>
                    <a:pt x="45847" y="0"/>
                  </a:cubicBezTo>
                  <a:lnTo>
                    <a:pt x="21545169" y="0"/>
                  </a:lnTo>
                  <a:cubicBezTo>
                    <a:pt x="21570442" y="0"/>
                    <a:pt x="21591015" y="20574"/>
                    <a:pt x="21591015" y="45847"/>
                  </a:cubicBezTo>
                  <a:lnTo>
                    <a:pt x="21591015" y="1598295"/>
                  </a:lnTo>
                  <a:cubicBezTo>
                    <a:pt x="21591015" y="1623568"/>
                    <a:pt x="21570442" y="1644142"/>
                    <a:pt x="21545169" y="1644142"/>
                  </a:cubicBezTo>
                  <a:lnTo>
                    <a:pt x="45847" y="1644142"/>
                  </a:lnTo>
                  <a:cubicBezTo>
                    <a:pt x="20574" y="1644142"/>
                    <a:pt x="0" y="1623568"/>
                    <a:pt x="0" y="1598295"/>
                  </a:cubicBezTo>
                  <a:close/>
                </a:path>
              </a:pathLst>
            </a:custGeom>
            <a:solidFill>
              <a:srgbClr val="2B2952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47131" y="8217989"/>
            <a:ext cx="5397713" cy="1233040"/>
            <a:chOff x="0" y="0"/>
            <a:chExt cx="7196950" cy="16440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96963" cy="1644015"/>
            </a:xfrm>
            <a:custGeom>
              <a:avLst/>
              <a:gdLst/>
              <a:ahLst/>
              <a:cxnLst/>
              <a:rect r="r" b="b" t="t" l="l"/>
              <a:pathLst>
                <a:path h="1644015" w="7196963">
                  <a:moveTo>
                    <a:pt x="38227" y="0"/>
                  </a:moveTo>
                  <a:lnTo>
                    <a:pt x="7196963" y="0"/>
                  </a:lnTo>
                  <a:lnTo>
                    <a:pt x="7196963" y="1644015"/>
                  </a:lnTo>
                  <a:lnTo>
                    <a:pt x="38227" y="1644015"/>
                  </a:lnTo>
                  <a:cubicBezTo>
                    <a:pt x="17145" y="1644015"/>
                    <a:pt x="0" y="1626870"/>
                    <a:pt x="0" y="1605788"/>
                  </a:cubicBezTo>
                  <a:lnTo>
                    <a:pt x="0" y="38227"/>
                  </a:lnTo>
                  <a:cubicBezTo>
                    <a:pt x="0" y="17145"/>
                    <a:pt x="17145" y="0"/>
                    <a:pt x="38227" y="0"/>
                  </a:cubicBezTo>
                  <a:close/>
                </a:path>
              </a:pathLst>
            </a:custGeom>
            <a:solidFill>
              <a:srgbClr val="2B2952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76169" y="8427987"/>
            <a:ext cx="4939627" cy="36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000000"/>
                </a:solidFill>
                <a:latin typeface="Syne Bold"/>
                <a:ea typeface="Syne Bold"/>
                <a:cs typeface="Syne Bold"/>
                <a:sym typeface="Syne Bold"/>
              </a:rPr>
              <a:t>📁</a:t>
            </a:r>
            <a:r>
              <a:rPr lang="en-US" sz="2100" b="true">
                <a:solidFill>
                  <a:srgbClr val="D9E1FF"/>
                </a:solidFill>
                <a:latin typeface="Syne Bold"/>
                <a:ea typeface="Syne Bold"/>
                <a:cs typeface="Syne Bold"/>
                <a:sym typeface="Syne Bold"/>
              </a:rPr>
              <a:t> Original File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6169" y="8841429"/>
            <a:ext cx="4939627" cy="380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Preserved — never overwritten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444844" y="8217989"/>
            <a:ext cx="5397713" cy="1233040"/>
            <a:chOff x="0" y="0"/>
            <a:chExt cx="7196950" cy="164405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96963" cy="1644015"/>
            </a:xfrm>
            <a:custGeom>
              <a:avLst/>
              <a:gdLst/>
              <a:ahLst/>
              <a:cxnLst/>
              <a:rect r="r" b="b" t="t" l="l"/>
              <a:pathLst>
                <a:path h="1644015" w="7196963">
                  <a:moveTo>
                    <a:pt x="0" y="0"/>
                  </a:moveTo>
                  <a:lnTo>
                    <a:pt x="7196963" y="0"/>
                  </a:lnTo>
                  <a:lnTo>
                    <a:pt x="7196963" y="1644015"/>
                  </a:lnTo>
                  <a:lnTo>
                    <a:pt x="0" y="1644015"/>
                  </a:lnTo>
                  <a:close/>
                </a:path>
              </a:pathLst>
            </a:custGeom>
            <a:solidFill>
              <a:srgbClr val="2B295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444844" y="8217989"/>
            <a:ext cx="28575" cy="1233040"/>
            <a:chOff x="0" y="0"/>
            <a:chExt cx="38100" cy="164405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100" cy="1644015"/>
            </a:xfrm>
            <a:custGeom>
              <a:avLst/>
              <a:gdLst/>
              <a:ahLst/>
              <a:cxnLst/>
              <a:rect r="r" b="b" t="t" l="l"/>
              <a:pathLst>
                <a:path h="1644015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624965"/>
                  </a:lnTo>
                  <a:cubicBezTo>
                    <a:pt x="38100" y="1635506"/>
                    <a:pt x="29591" y="1644015"/>
                    <a:pt x="19050" y="1644015"/>
                  </a:cubicBezTo>
                  <a:cubicBezTo>
                    <a:pt x="8509" y="1644015"/>
                    <a:pt x="0" y="1635506"/>
                    <a:pt x="0" y="1624965"/>
                  </a:cubicBezTo>
                  <a:close/>
                </a:path>
              </a:pathLst>
            </a:custGeom>
            <a:solidFill>
              <a:srgbClr val="44426B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673882" y="8427987"/>
            <a:ext cx="4939627" cy="36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000000"/>
                </a:solidFill>
                <a:latin typeface="Syne Bold"/>
                <a:ea typeface="Syne Bold"/>
                <a:cs typeface="Syne Bold"/>
                <a:sym typeface="Syne Bold"/>
              </a:rPr>
              <a:t>🔧</a:t>
            </a:r>
            <a:r>
              <a:rPr lang="en-US" sz="2100" b="true">
                <a:solidFill>
                  <a:srgbClr val="D9E1FF"/>
                </a:solidFill>
                <a:latin typeface="Syne Bold"/>
                <a:ea typeface="Syne Bold"/>
                <a:cs typeface="Syne Bold"/>
                <a:sym typeface="Syne Bold"/>
              </a:rPr>
              <a:t> Working Copy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73882" y="8841429"/>
            <a:ext cx="4939627" cy="380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Cleaned by the Skill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842556" y="8217989"/>
            <a:ext cx="5397713" cy="1233040"/>
            <a:chOff x="0" y="0"/>
            <a:chExt cx="7196950" cy="164405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96963" cy="1644142"/>
            </a:xfrm>
            <a:custGeom>
              <a:avLst/>
              <a:gdLst/>
              <a:ahLst/>
              <a:cxnLst/>
              <a:rect r="r" b="b" t="t" l="l"/>
              <a:pathLst>
                <a:path h="1644142" w="7196963">
                  <a:moveTo>
                    <a:pt x="0" y="0"/>
                  </a:moveTo>
                  <a:lnTo>
                    <a:pt x="7158736" y="0"/>
                  </a:lnTo>
                  <a:cubicBezTo>
                    <a:pt x="7179818" y="0"/>
                    <a:pt x="7196963" y="17145"/>
                    <a:pt x="7196963" y="38227"/>
                  </a:cubicBezTo>
                  <a:lnTo>
                    <a:pt x="7196963" y="1605915"/>
                  </a:lnTo>
                  <a:cubicBezTo>
                    <a:pt x="7196963" y="1626997"/>
                    <a:pt x="7179818" y="1644142"/>
                    <a:pt x="7158736" y="1644142"/>
                  </a:cubicBezTo>
                  <a:lnTo>
                    <a:pt x="0" y="16441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2952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842556" y="8217989"/>
            <a:ext cx="28575" cy="1233040"/>
            <a:chOff x="0" y="0"/>
            <a:chExt cx="38100" cy="164405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8100" cy="1644015"/>
            </a:xfrm>
            <a:custGeom>
              <a:avLst/>
              <a:gdLst/>
              <a:ahLst/>
              <a:cxnLst/>
              <a:rect r="r" b="b" t="t" l="l"/>
              <a:pathLst>
                <a:path h="1644015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624965"/>
                  </a:lnTo>
                  <a:cubicBezTo>
                    <a:pt x="38100" y="1635506"/>
                    <a:pt x="29591" y="1644015"/>
                    <a:pt x="19050" y="1644015"/>
                  </a:cubicBezTo>
                  <a:cubicBezTo>
                    <a:pt x="8509" y="1644015"/>
                    <a:pt x="0" y="1635506"/>
                    <a:pt x="0" y="1624965"/>
                  </a:cubicBezTo>
                  <a:close/>
                </a:path>
              </a:pathLst>
            </a:custGeom>
            <a:solidFill>
              <a:srgbClr val="44426B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071594" y="8427987"/>
            <a:ext cx="4939627" cy="36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000000"/>
                </a:solidFill>
                <a:latin typeface="Syne Bold"/>
                <a:ea typeface="Syne Bold"/>
                <a:cs typeface="Syne Bold"/>
                <a:sym typeface="Syne Bold"/>
              </a:rPr>
              <a:t>📋</a:t>
            </a:r>
            <a:r>
              <a:rPr lang="en-US" sz="2100" b="true">
                <a:solidFill>
                  <a:srgbClr val="D9E1FF"/>
                </a:solidFill>
                <a:latin typeface="Syne Bold"/>
                <a:ea typeface="Syne Bold"/>
                <a:cs typeface="Syne Bold"/>
                <a:sym typeface="Syne Bold"/>
              </a:rPr>
              <a:t> Quality Report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071594" y="8841429"/>
            <a:ext cx="4939627" cy="380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Generated automatically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0D4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A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131" y="1167555"/>
            <a:ext cx="16193291" cy="908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2"/>
              </a:lnSpc>
            </a:pPr>
            <a:r>
              <a:rPr lang="en-US" b="true" sz="5475">
                <a:solidFill>
                  <a:srgbClr val="FF7A00"/>
                </a:solidFill>
                <a:latin typeface="Syne Bold"/>
                <a:ea typeface="Syne Bold"/>
                <a:cs typeface="Syne Bold"/>
                <a:sym typeface="Syne Bold"/>
              </a:rPr>
              <a:t>Results &amp; What I Learned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131" y="2804960"/>
            <a:ext cx="7731728" cy="45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Syne Bold"/>
              </a:rPr>
              <a:t>Outputs Delivered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1047131" y="3600450"/>
            <a:ext cx="7731728" cy="1114425"/>
          </a:xfrm>
          <a:custGeom>
            <a:avLst/>
            <a:gdLst/>
            <a:ahLst/>
            <a:cxnLst/>
            <a:rect r="r" b="b" t="t" l="l"/>
            <a:pathLst>
              <a:path h="1114425" w="7731728">
                <a:moveTo>
                  <a:pt x="0" y="0"/>
                </a:moveTo>
                <a:lnTo>
                  <a:pt x="7731728" y="0"/>
                </a:lnTo>
                <a:lnTo>
                  <a:pt x="7731728" y="1114425"/>
                </a:lnTo>
                <a:lnTo>
                  <a:pt x="0" y="11144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" t="0" r="-16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36764" y="3918642"/>
            <a:ext cx="6904853" cy="45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000000"/>
                </a:solidFill>
                <a:latin typeface="Syne Bold"/>
                <a:ea typeface="Syne Bold"/>
                <a:cs typeface="Syne Bold"/>
                <a:sym typeface="Syne Bold"/>
              </a:rPr>
              <a:t>✅</a:t>
            </a:r>
            <a:r>
              <a:rPr lang="en-US" sz="2700" b="true">
                <a:solidFill>
                  <a:srgbClr val="D9E1FF"/>
                </a:solidFill>
                <a:latin typeface="Syne Bold"/>
                <a:ea typeface="Syne Bold"/>
                <a:cs typeface="Syne Bold"/>
                <a:sym typeface="Syne Bold"/>
              </a:rPr>
              <a:t> Cleaned Excel Dataset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1047131" y="5014017"/>
            <a:ext cx="7731728" cy="1114425"/>
          </a:xfrm>
          <a:custGeom>
            <a:avLst/>
            <a:gdLst/>
            <a:ahLst/>
            <a:cxnLst/>
            <a:rect r="r" b="b" t="t" l="l"/>
            <a:pathLst>
              <a:path h="1114425" w="7731728">
                <a:moveTo>
                  <a:pt x="0" y="0"/>
                </a:moveTo>
                <a:lnTo>
                  <a:pt x="7731728" y="0"/>
                </a:lnTo>
                <a:lnTo>
                  <a:pt x="7731728" y="1114425"/>
                </a:lnTo>
                <a:lnTo>
                  <a:pt x="0" y="11144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" t="0" r="-16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36764" y="5332209"/>
            <a:ext cx="6904853" cy="45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000000"/>
                </a:solidFill>
                <a:latin typeface="Syne Bold"/>
                <a:ea typeface="Syne Bold"/>
                <a:cs typeface="Syne Bold"/>
                <a:sym typeface="Syne Bold"/>
              </a:rPr>
              <a:t>✅</a:t>
            </a:r>
            <a:r>
              <a:rPr lang="en-US" sz="2700" b="true">
                <a:solidFill>
                  <a:srgbClr val="D9E1FF"/>
                </a:solidFill>
                <a:latin typeface="Syne Bold"/>
                <a:ea typeface="Syne Bold"/>
                <a:cs typeface="Syne Bold"/>
                <a:sym typeface="Syne Bold"/>
              </a:rPr>
              <a:t> Data-Quality Report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1047131" y="6427584"/>
            <a:ext cx="7731728" cy="1114425"/>
          </a:xfrm>
          <a:custGeom>
            <a:avLst/>
            <a:gdLst/>
            <a:ahLst/>
            <a:cxnLst/>
            <a:rect r="r" b="b" t="t" l="l"/>
            <a:pathLst>
              <a:path h="1114425" w="7731728">
                <a:moveTo>
                  <a:pt x="0" y="0"/>
                </a:moveTo>
                <a:lnTo>
                  <a:pt x="7731728" y="0"/>
                </a:lnTo>
                <a:lnTo>
                  <a:pt x="7731728" y="1114425"/>
                </a:lnTo>
                <a:lnTo>
                  <a:pt x="0" y="11144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" t="0" r="-16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36764" y="6745786"/>
            <a:ext cx="6904853" cy="45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000000"/>
                </a:solidFill>
                <a:latin typeface="Syne Bold"/>
                <a:ea typeface="Syne Bold"/>
                <a:cs typeface="Syne Bold"/>
                <a:sym typeface="Syne Bold"/>
              </a:rPr>
              <a:t>✅</a:t>
            </a:r>
            <a:r>
              <a:rPr lang="en-US" sz="2700" b="true">
                <a:solidFill>
                  <a:srgbClr val="D9E1FF"/>
                </a:solidFill>
                <a:latin typeface="Syne Bold"/>
                <a:ea typeface="Syne Bold"/>
                <a:cs typeface="Syne Bold"/>
                <a:sym typeface="Syne Bold"/>
              </a:rPr>
              <a:t> Flagged Items for Review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18218" y="2804960"/>
            <a:ext cx="7731728" cy="45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Syne Bold"/>
              </a:rPr>
              <a:t>The Iteration That Mattered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18218" y="3458318"/>
            <a:ext cx="7731728" cy="201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0"/>
              </a:lnSpc>
            </a:pPr>
            <a:r>
              <a:rPr lang="en-US" sz="2325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During testing, ambiguous dates were sometimes </a:t>
            </a:r>
            <a:r>
              <a:rPr lang="en-US" sz="2325" b="true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guessed incorrectly</a:t>
            </a:r>
            <a:r>
              <a:rPr lang="en-US" sz="2325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. Instead of accepting that, I improved the Skill to </a:t>
            </a:r>
            <a:r>
              <a:rPr lang="en-US" sz="2325" b="true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flag genuinely ambiguous dates</a:t>
            </a:r>
            <a:r>
              <a:rPr lang="en-US" sz="2325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for human review.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518218" y="5814717"/>
            <a:ext cx="7731728" cy="2124227"/>
            <a:chOff x="0" y="0"/>
            <a:chExt cx="10308971" cy="28323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308972" cy="2832227"/>
            </a:xfrm>
            <a:custGeom>
              <a:avLst/>
              <a:gdLst/>
              <a:ahLst/>
              <a:cxnLst/>
              <a:rect r="r" b="b" t="t" l="l"/>
              <a:pathLst>
                <a:path h="2832227" w="10308972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10249154" y="0"/>
                  </a:lnTo>
                  <a:cubicBezTo>
                    <a:pt x="10282174" y="0"/>
                    <a:pt x="10308972" y="26797"/>
                    <a:pt x="10308972" y="59817"/>
                  </a:cubicBezTo>
                  <a:lnTo>
                    <a:pt x="10308972" y="2772410"/>
                  </a:lnTo>
                  <a:cubicBezTo>
                    <a:pt x="10308972" y="2805430"/>
                    <a:pt x="10282174" y="2832227"/>
                    <a:pt x="10249154" y="2832227"/>
                  </a:cubicBezTo>
                  <a:lnTo>
                    <a:pt x="59817" y="2832227"/>
                  </a:lnTo>
                  <a:cubicBezTo>
                    <a:pt x="26797" y="2832227"/>
                    <a:pt x="0" y="2805430"/>
                    <a:pt x="0" y="2772410"/>
                  </a:cubicBezTo>
                  <a:close/>
                </a:path>
              </a:pathLst>
            </a:custGeom>
            <a:solidFill>
              <a:srgbClr val="19008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817351" y="6260154"/>
            <a:ext cx="373999" cy="299142"/>
            <a:chOff x="0" y="0"/>
            <a:chExt cx="498666" cy="398856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498602" cy="398907"/>
            </a:xfrm>
            <a:custGeom>
              <a:avLst/>
              <a:gdLst/>
              <a:ahLst/>
              <a:cxnLst/>
              <a:rect r="r" b="b" t="t" l="l"/>
              <a:pathLst>
                <a:path h="398907" w="498602">
                  <a:moveTo>
                    <a:pt x="0" y="0"/>
                  </a:moveTo>
                  <a:lnTo>
                    <a:pt x="498602" y="0"/>
                  </a:lnTo>
                  <a:lnTo>
                    <a:pt x="498602" y="398907"/>
                  </a:lnTo>
                  <a:lnTo>
                    <a:pt x="0" y="3989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" r="-12" b="3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490483" y="6053880"/>
            <a:ext cx="6460322" cy="1541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0"/>
              </a:lnSpc>
            </a:pPr>
            <a:r>
              <a:rPr lang="en-US" sz="232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Key takeaway:</a:t>
            </a:r>
            <a:r>
              <a:rPr lang="en-US" sz="23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AI automation is not just about getting an answer — it's about testing, finding failures, and improving the workflow.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7131" y="8507168"/>
            <a:ext cx="17107662" cy="454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0"/>
              </a:lnSpc>
            </a:pPr>
            <a:r>
              <a:rPr lang="en-US" sz="2325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325" b="true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Learning by Building </a:t>
            </a:r>
            <a:r>
              <a:rPr lang="en-US" sz="23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🚀</a:t>
            </a:r>
            <a:r>
              <a:rPr lang="en-US" sz="23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(created by gamma.ai and canva)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DAHUK8zJ2IE</dc:identifier>
  <dcterms:modified xsi:type="dcterms:W3CDTF">2011-08-01T06:04:30Z</dcterms:modified>
  <cp:revision>1</cp:revision>
  <dc:title>Data-Quality-Radar.pptx</dc:title>
</cp:coreProperties>
</file>